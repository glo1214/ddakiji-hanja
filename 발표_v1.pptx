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e23c467886d4d77" /><Relationship Type="http://schemas.openxmlformats.org/officeDocument/2006/relationships/extended-properties" Target="/docProps/app.xml" Id="Rbe6dc6af9c1a4890" /><Relationship Type="http://schemas.openxmlformats.org/officeDocument/2006/relationships/officeDocument" Target="/ppt/presentation.xml" Id="Rf139b782f5dd4c9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a522cf628b04206"/>
  </p:sldMasterIdLst>
  <p:notesMasterIdLst>
    <p:notesMasterId xmlns:r="http://schemas.openxmlformats.org/officeDocument/2006/relationships" r:id="Rcd8030e9b74f4673"/>
  </p:notesMasterIdLst>
  <p:sldIdLst>
    <p:sldId xmlns:r="http://schemas.openxmlformats.org/officeDocument/2006/relationships" id="256" r:id="Rfa86fef1650742d4"/>
    <p:sldId xmlns:r="http://schemas.openxmlformats.org/officeDocument/2006/relationships" id="257" r:id="Rbf12a9cf0dd24691"/>
    <p:sldId xmlns:r="http://schemas.openxmlformats.org/officeDocument/2006/relationships" id="258" r:id="R074994eefd9c4f07"/>
    <p:sldId xmlns:r="http://schemas.openxmlformats.org/officeDocument/2006/relationships" id="259" r:id="R801b52e742db47b8"/>
    <p:sldId xmlns:r="http://schemas.openxmlformats.org/officeDocument/2006/relationships" id="260" r:id="R3e51f15face64c3b"/>
    <p:sldId xmlns:r="http://schemas.openxmlformats.org/officeDocument/2006/relationships" id="261" r:id="R9f3bf85d6d10495f"/>
    <p:sldId xmlns:r="http://schemas.openxmlformats.org/officeDocument/2006/relationships" id="262" r:id="Rb17c4afb56964df9"/>
    <p:sldId xmlns:r="http://schemas.openxmlformats.org/officeDocument/2006/relationships" id="263" r:id="Rdf06dc40aee64ba1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bb9b41827df435b" /><Relationship Type="http://schemas.openxmlformats.org/officeDocument/2006/relationships/slideMaster" Target="/ppt/slideMasters/slideMaster1.xml" Id="R0a522cf628b04206" /><Relationship Type="http://schemas.openxmlformats.org/officeDocument/2006/relationships/notesMaster" Target="/ppt/notesMasters/notesMaster1.xml" Id="Rcd8030e9b74f4673" /><Relationship Type="http://schemas.openxmlformats.org/officeDocument/2006/relationships/presProps" Target="/ppt/presProps.xml" Id="R44c905d79f9f46c4" /><Relationship Type="http://schemas.openxmlformats.org/officeDocument/2006/relationships/tableStyles" Target="/ppt/tableStyles.xml" Id="Rad57c41e4fa746b7" /><Relationship Type="http://schemas.openxmlformats.org/officeDocument/2006/relationships/slide" Target="/ppt/slides/slide1.xml" Id="Rfa86fef1650742d4" /><Relationship Type="http://schemas.openxmlformats.org/officeDocument/2006/relationships/slide" Target="/ppt/slides/slide2.xml" Id="Rbf12a9cf0dd24691" /><Relationship Type="http://schemas.openxmlformats.org/officeDocument/2006/relationships/slide" Target="/ppt/slides/slide3.xml" Id="R074994eefd9c4f07" /><Relationship Type="http://schemas.openxmlformats.org/officeDocument/2006/relationships/slide" Target="/ppt/slides/slide4.xml" Id="R801b52e742db47b8" /><Relationship Type="http://schemas.openxmlformats.org/officeDocument/2006/relationships/slide" Target="/ppt/slides/slide5.xml" Id="R3e51f15face64c3b" /><Relationship Type="http://schemas.openxmlformats.org/officeDocument/2006/relationships/slide" Target="/ppt/slides/slide6.xml" Id="R9f3bf85d6d10495f" /><Relationship Type="http://schemas.openxmlformats.org/officeDocument/2006/relationships/slide" Target="/ppt/slides/slide7.xml" Id="Rb17c4afb56964df9" /><Relationship Type="http://schemas.openxmlformats.org/officeDocument/2006/relationships/slide" Target="/ppt/slides/slide8.xml" Id="Rdf06dc40aee64ba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75b42062a5d408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55ae284118742f4" /><Relationship Type="http://schemas.openxmlformats.org/officeDocument/2006/relationships/notesMaster" Target="/ppt/notesMasters/notesMaster1.xml" Id="R6a82e5abce0345e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d89d31c25874584" /><Relationship Type="http://schemas.openxmlformats.org/officeDocument/2006/relationships/notesMaster" Target="/ppt/notesMasters/notesMaster1.xml" Id="R688e0f84d766461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9d79ca6feb44d8c" /><Relationship Type="http://schemas.openxmlformats.org/officeDocument/2006/relationships/notesMaster" Target="/ppt/notesMasters/notesMaster1.xml" Id="Ra6b7e5af8e674dc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dbe40daad654950" /><Relationship Type="http://schemas.openxmlformats.org/officeDocument/2006/relationships/notesMaster" Target="/ppt/notesMasters/notesMaster1.xml" Id="Ra247ac16a8b2481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0e6f0f1aa88d4ea4" /><Relationship Type="http://schemas.openxmlformats.org/officeDocument/2006/relationships/notesMaster" Target="/ppt/notesMasters/notesMaster1.xml" Id="R4b40944b31b74b2f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c03effbaaa5740ea" /><Relationship Type="http://schemas.openxmlformats.org/officeDocument/2006/relationships/notesMaster" Target="/ppt/notesMasters/notesMaster1.xml" Id="R43886aa46d934c97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196d41457a4642fb" /><Relationship Type="http://schemas.openxmlformats.org/officeDocument/2006/relationships/notesMaster" Target="/ppt/notesMasters/notesMaster1.xml" Id="R8e9c2f014be746e8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fa069cc772dc4ebb" /><Relationship Type="http://schemas.openxmlformats.org/officeDocument/2006/relationships/notesMaster" Target="/ppt/notesMasters/notesMaster1.xml" Id="R1fa721450e524bd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표지에서는 서비스명을 먼저 말하고, '개념어가 켜지는 순간'이라는 한 문장으로 기억시킵니다.</a:t>
            </a:r>
          </a:p>
          <a:p xmlns:a="http://schemas.openxmlformats.org/drawingml/2006/main">
            <a:r>
              <a:t>이 앱은 한자와 그림, 따라그리기, 설명하기를 한 흐름으로 묶은 개념어 학습 앱입니다.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 로컬 앱 구현, 사용자 제공 기획/콘텐츠 브리프, 생성된 대표 이미지와 앱 화면 캡처.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보상은 코인처럼 따로 노는 것이 아니라 브랜드 세계관과 연결합니다.</a:t>
            </a:r>
          </a:p>
          <a:p xmlns:a="http://schemas.openxmlformats.org/drawingml/2006/main">
            <a:r>
              <a:t>학생은 빛에너지를 모아 글로콩을 키우고, 설명하기 성공처럼 진짜 이해 행동에 가장 큰 보상을 받습니다.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 로컬 앱 구현, 사용자 제공 기획/콘텐츠 브리프, 생성된 대표 이미지와 앱 화면 캡처.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문제는 지식 부족만이 아니라 개념어가 머릿속에서 구조화되지 않는 데 있습니다.</a:t>
            </a:r>
          </a:p>
          <a:p xmlns:a="http://schemas.openxmlformats.org/drawingml/2006/main">
            <a:r>
              <a:t>그래서 단어를 외우게 하는 앱이 아니라, 단어가 쓰이는 의미 구조를 켜는 앱으로 접근했습니다.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 로컬 앱 구현, 사용자 제공 기획/콘텐츠 브리프, 생성된 대표 이미지와 앱 화면 캡처.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핵심은 한 단어를 여러 방식으로 반복하는 게 아니라, 각 단계가 서로 다른 인지 작업을 하게 하는 것입니다.</a:t>
            </a:r>
          </a:p>
          <a:p xmlns:a="http://schemas.openxmlformats.org/drawingml/2006/main">
            <a:r>
              <a:t>마지막 설명하기에서 학생이 자기 말로 닫아야 학습이 끝납니다.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 로컬 앱 구현, 사용자 제공 기획/콘텐츠 브리프, 생성된 대표 이미지와 앱 화면 캡처.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데모는 모든 개념을 보여주는 자리가 아니라, 앱의 핵심 학습 경험이 실제로 돈다는 것을 보여주는 자리입니다.</a:t>
            </a:r>
          </a:p>
          <a:p xmlns:a="http://schemas.openxmlformats.org/drawingml/2006/main">
            <a:r>
              <a:t>5개만으로도 한자, 이미지, 비교, 따라그리기, 설명하기가 모두 보입니다.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 로컬 앱 구현, 사용자 제공 기획/콘텐츠 브리프, 생성된 대표 이미지와 앱 화면 캡처.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단순히 귀여운 그림을 넣는 것이 아니라, 설명 예시와 시각화 예시를 일치시키는 것이 중요합니다.</a:t>
            </a:r>
          </a:p>
          <a:p xmlns:a="http://schemas.openxmlformats.org/drawingml/2006/main">
            <a:r>
              <a:t>변이는 같은 종 안의 차이이므로, 같은 강낭콩 씨앗들이 조금씩 다르게 보이도록 그렸습니다.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 로컬 앱 구현, 사용자 제공 기획/콘텐츠 브리프, 생성된 대표 이미지와 앱 화면 캡처.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학습자는 먼저 의미를 보고, 그림으로 구조를 보고, 자기 손으로 다시 그립니다.</a:t>
            </a:r>
          </a:p>
          <a:p xmlns:a="http://schemas.openxmlformats.org/drawingml/2006/main">
            <a:r>
              <a:t>태양계처럼 그림 안에 '별, 행성, 위성' 라벨을 넣어 구분할 때도 글자 설명이 도식 안에 들어갑니다.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 로컬 앱 구현, 사용자 제공 기획/콘텐츠 브리프, 생성된 대표 이미지와 앱 화면 캡처.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마지막에는 제출에 필요한 URL과 다음 실행 계획을 말합니다.</a:t>
            </a:r>
          </a:p>
          <a:p xmlns:a="http://schemas.openxmlformats.org/drawingml/2006/main">
            <a:r>
              <a:t>내일 발표의 성공 기준은 5개 데모 개념이 예측부터 설명하기까지 끊기지 않고 도는 것입니다.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 로컬 앱 구현, 사용자 제공 기획/콘텐츠 브리프, 생성된 대표 이미지와 앱 화면 캡처.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b5e7185310f467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aef8b165b124679" /><Relationship Type="http://schemas.openxmlformats.org/officeDocument/2006/relationships/slideLayout" Target="/ppt/slideLayouts/slideLayout1.xml" Id="R350137dee9a04cb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50137dee9a04cb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35674cee8084c0f" /><Relationship Type="http://schemas.openxmlformats.org/officeDocument/2006/relationships/image" Target="/ppt/media/image.png" Id="R9a575c4ccb4e4928" /><Relationship Type="http://schemas.openxmlformats.org/officeDocument/2006/relationships/notesSlide" Target="/ppt/notesSlides/notesSlide1.xml" Id="R00e7f6fe55824aa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da2ddece8d74013" /><Relationship Type="http://schemas.openxmlformats.org/officeDocument/2006/relationships/image" Target="/ppt/media/image2.png" Id="Recaa7c5a948d4553" /><Relationship Type="http://schemas.openxmlformats.org/officeDocument/2006/relationships/image" Target="/ppt/media/image3.png" Id="R5d71446ca78d408b" /><Relationship Type="http://schemas.openxmlformats.org/officeDocument/2006/relationships/notesSlide" Target="/ppt/notesSlides/notesSlide2.xml" Id="R49805675e5364b7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87e66ac5cac46f6" /><Relationship Type="http://schemas.openxmlformats.org/officeDocument/2006/relationships/image" Target="/ppt/media/image4.png" Id="R21ce4c8a08144de8" /><Relationship Type="http://schemas.openxmlformats.org/officeDocument/2006/relationships/notesSlide" Target="/ppt/notesSlides/notesSlide3.xml" Id="Ra422223af4b145a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ced841d19a14b52" /><Relationship Type="http://schemas.openxmlformats.org/officeDocument/2006/relationships/image" Target="/ppt/media/image5.png" Id="R109c08805c494c5c" /><Relationship Type="http://schemas.openxmlformats.org/officeDocument/2006/relationships/notesSlide" Target="/ppt/notesSlides/notesSlide4.xml" Id="R85a7b089ff1d4d7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b6fcfe236a0417a" /><Relationship Type="http://schemas.openxmlformats.org/officeDocument/2006/relationships/image" Target="/ppt/media/image6.png" Id="Raebfd2a119e444a1" /><Relationship Type="http://schemas.openxmlformats.org/officeDocument/2006/relationships/notesSlide" Target="/ppt/notesSlides/notesSlide5.xml" Id="Red67fcd89d5e43e5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561045bd560442d" /><Relationship Type="http://schemas.openxmlformats.org/officeDocument/2006/relationships/image" Target="/ppt/media/image7.png" Id="R68fb24bea7c941f5" /><Relationship Type="http://schemas.openxmlformats.org/officeDocument/2006/relationships/image" Target="/ppt/media/image8.png" Id="Red7e561a1df04284" /><Relationship Type="http://schemas.openxmlformats.org/officeDocument/2006/relationships/notesSlide" Target="/ppt/notesSlides/notesSlide6.xml" Id="Rb4cb5e16b72d4300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e8d1108307143de" /><Relationship Type="http://schemas.openxmlformats.org/officeDocument/2006/relationships/image" Target="/ppt/media/image9.png" Id="R5427c3e2e21b40c9" /><Relationship Type="http://schemas.openxmlformats.org/officeDocument/2006/relationships/image" Target="/ppt/media/image10.png" Id="R18325c5843bc439a" /><Relationship Type="http://schemas.openxmlformats.org/officeDocument/2006/relationships/image" Target="/ppt/media/image11.png" Id="R9fb08df158be488e" /><Relationship Type="http://schemas.openxmlformats.org/officeDocument/2006/relationships/notesSlide" Target="/ppt/notesSlides/notesSlide7.xml" Id="R2682e2dd72224fcf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36074fab9d54aaa" /><Relationship Type="http://schemas.openxmlformats.org/officeDocument/2006/relationships/image" Target="/ppt/media/image12.png" Id="Ra90e16f52d154c26" /><Relationship Type="http://schemas.openxmlformats.org/officeDocument/2006/relationships/notesSlide" Target="/ppt/notesSlides/notesSlide8.xml" Id="Rd29eab2f75e54c82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2F0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a575c4ccb4e4928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001303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2F0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caa7c5a948d4553"/>
          <a:stretch xmlns:a="http://schemas.openxmlformats.org/drawingml/2006/main"/>
        </p:blipFill>
        <p:spPr>
          <a:xfrm xmlns:a="http://schemas.openxmlformats.org/drawingml/2006/main">
            <a:off x="685800" y="531276"/>
            <a:ext cx="2266950" cy="842448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1ECEE46-66C2-426C-A25D-622FAC422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90650"/>
            <a:ext cx="342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4F9F2E"/>
                </a:solidFill>
              </a:defRPr>
            </a:pPr>
            <a:r>
              <a:rPr sz="1275" b="1">
                <a:solidFill>
                  <a:srgbClr val="4F9F2E"/>
                </a:solidFill>
              </a:rPr>
              <a:t>보상 설계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D1F2C75-C2EA-46C9-9229-230EAD233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14500"/>
            <a:ext cx="85725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11100E"/>
                </a:solidFill>
              </a:defRPr>
            </a:pPr>
            <a:r>
              <a:rPr sz="3225" b="1">
                <a:solidFill>
                  <a:srgbClr val="11100E"/>
                </a:solidFill>
              </a:rPr>
              <a:t>개념 ON에 성공하면 빛에너지로 글로콩이 자랍니다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0BD9596-1F10-4F4C-B0C0-1663AA6BE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724150"/>
            <a:ext cx="7620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F5A50"/>
                </a:solidFill>
              </a:defRPr>
            </a:pPr>
            <a:r>
              <a:rPr sz="1725" b="0">
                <a:solidFill>
                  <a:srgbClr val="5F5A50"/>
                </a:solidFill>
              </a:rPr>
              <a:t>보상은 클릭 수가 아니라 의미 있는 이해 행동에 더 크게 붙입니다.</a:t>
            </a:r>
          </a:p>
        </p:txBody>
      </p:sp>
      <p:pic>
        <p:nvPicPr>
          <p:cNvPr id="3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d71446ca78d408b"/>
          <a:stretch xmlns:a="http://schemas.openxmlformats.org/drawingml/2006/main"/>
        </p:blipFill>
        <p:spPr>
          <a:xfrm xmlns:a="http://schemas.openxmlformats.org/drawingml/2006/main">
            <a:off x="1123950" y="3600450"/>
            <a:ext cx="2476500" cy="247650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AE63DBC-AD93-4CBF-B946-3CA61C6CB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60045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1100E"/>
                </a:solidFill>
              </a:defRPr>
            </a:pPr>
            <a:r>
              <a:rPr sz="1800" b="0">
                <a:solidFill>
                  <a:srgbClr val="11100E"/>
                </a:solidFill>
              </a:rPr>
              <a:t>개념 카드 확인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36A8880-CF46-4C8D-97B3-4C39C5277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3581400"/>
            <a:ext cx="8382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19050">
            <a:solidFill>
              <a:srgbClr val="11100E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6C12008-3E22-4B85-864D-85C6418E1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3638550"/>
            <a:ext cx="533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1100E"/>
                </a:solidFill>
              </a:defRPr>
            </a:pPr>
            <a:r>
              <a:rPr sz="1575" b="1">
                <a:solidFill>
                  <a:srgbClr val="11100E"/>
                </a:solidFill>
              </a:rPr>
              <a:t>+1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B003F49-12EB-4BA0-BB7D-94659BE18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00050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1100E"/>
                </a:solidFill>
              </a:defRPr>
            </a:pPr>
            <a:r>
              <a:rPr sz="1800" b="0">
                <a:solidFill>
                  <a:srgbClr val="11100E"/>
                </a:solidFill>
              </a:rPr>
              <a:t>객관식 정답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DFABD8A-FF9D-4E4A-825D-6521AA6DC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3981450"/>
            <a:ext cx="8382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19050">
            <a:solidFill>
              <a:srgbClr val="11100E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5DC55CD-B9DF-485D-8CD9-FC360304D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4038600"/>
            <a:ext cx="533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1100E"/>
                </a:solidFill>
              </a:defRPr>
            </a:pPr>
            <a:r>
              <a:rPr sz="1575" b="1">
                <a:solidFill>
                  <a:srgbClr val="11100E"/>
                </a:solidFill>
              </a:rPr>
              <a:t>+2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D9F7C71-523B-40E1-A29B-70EF3D43C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40055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1100E"/>
                </a:solidFill>
              </a:defRPr>
            </a:pPr>
            <a:r>
              <a:rPr sz="1800" b="0">
                <a:solidFill>
                  <a:srgbClr val="11100E"/>
                </a:solidFill>
              </a:rPr>
              <a:t>첫 시도 정답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45FB9FD-742D-42CD-8165-7C9A4107D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4381500"/>
            <a:ext cx="8382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19050">
            <a:solidFill>
              <a:srgbClr val="11100E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7A9B3F0-F16F-4D43-B5AE-28D7A2869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4438650"/>
            <a:ext cx="533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1100E"/>
                </a:solidFill>
              </a:defRPr>
            </a:pPr>
            <a:r>
              <a:rPr sz="1575" b="1">
                <a:solidFill>
                  <a:srgbClr val="11100E"/>
                </a:solidFill>
              </a:rPr>
              <a:t>+1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FE73AB7-D423-42D4-BEB1-DA65CC64B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80060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1100E"/>
                </a:solidFill>
              </a:defRPr>
            </a:pPr>
            <a:r>
              <a:rPr sz="1800" b="0">
                <a:solidFill>
                  <a:srgbClr val="11100E"/>
                </a:solidFill>
              </a:rPr>
              <a:t>그림 따라그리기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323BA15-DAED-4A5F-A026-4455748CB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4781550"/>
            <a:ext cx="8382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19050">
            <a:solidFill>
              <a:srgbClr val="11100E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B6FE767-F4A5-4179-AF36-97BC563CB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4838700"/>
            <a:ext cx="533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1100E"/>
                </a:solidFill>
              </a:defRPr>
            </a:pPr>
            <a:r>
              <a:rPr sz="1575" b="1">
                <a:solidFill>
                  <a:srgbClr val="11100E"/>
                </a:solidFill>
              </a:rPr>
              <a:t>+2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5F4DB0A-1957-4D58-854B-B0DE4A3F8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520065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00E"/>
                </a:solidFill>
              </a:defRPr>
            </a:pPr>
            <a:r>
              <a:rPr sz="1800" b="1">
                <a:solidFill>
                  <a:srgbClr val="11100E"/>
                </a:solidFill>
              </a:rPr>
              <a:t>설명하기 성공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BD36B62-4F81-4E8D-A184-AE7B69118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5181600"/>
            <a:ext cx="8382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B9EF4D"/>
          </a:solidFill>
          <a:ln xmlns:a="http://schemas.openxmlformats.org/drawingml/2006/main" w="19050">
            <a:solidFill>
              <a:srgbClr val="11100E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8674CF6-2242-4722-8EE1-2520DEF03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5238750"/>
            <a:ext cx="533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1100E"/>
                </a:solidFill>
              </a:defRPr>
            </a:pPr>
            <a:r>
              <a:rPr sz="1575" b="1">
                <a:solidFill>
                  <a:srgbClr val="11100E"/>
                </a:solidFill>
              </a:rPr>
              <a:t>+5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0CCDBB4-5FC1-49A0-85AB-2811B7DBD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560070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1100E"/>
                </a:solidFill>
              </a:defRPr>
            </a:pPr>
            <a:r>
              <a:rPr sz="1800" b="0">
                <a:solidFill>
                  <a:srgbClr val="11100E"/>
                </a:solidFill>
              </a:rPr>
              <a:t>5단계 완주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78908F4-4922-4167-88D2-E1AAFD188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5581650"/>
            <a:ext cx="8382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19050">
            <a:solidFill>
              <a:srgbClr val="11100E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84D245A-3C7A-4774-850A-2DFF3DDF0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5638800"/>
            <a:ext cx="533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1100E"/>
                </a:solidFill>
              </a:defRPr>
            </a:pPr>
            <a:r>
              <a:rPr sz="1575" b="1">
                <a:solidFill>
                  <a:srgbClr val="11100E"/>
                </a:solidFill>
              </a:rPr>
              <a:t>+3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E7B81B1-679B-41C1-9E18-BE2F7D2BD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115050"/>
            <a:ext cx="609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4F9F2E"/>
                </a:solidFill>
              </a:defRPr>
            </a:pPr>
            <a:r>
              <a:rPr sz="1350" b="1">
                <a:solidFill>
                  <a:srgbClr val="4F9F2E"/>
                </a:solidFill>
              </a:rPr>
              <a:t>잠든 글로콩 → 빛콩 → 싹튼 글로콩 → 두잎 글로콩 → 열매 글로콩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4A5D244-F5FB-4165-A01D-030D1DDCD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9125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0C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395B86D-A6D1-469B-B161-043792B06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850" y="624840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F5A50"/>
                </a:solidFill>
              </a:defRPr>
            </a:pPr>
            <a:r>
              <a:rPr sz="1050" b="1">
                <a:solidFill>
                  <a:srgbClr val="5F5A50"/>
                </a:solidFill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23249423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2F0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1ce4c8a08144de8"/>
          <a:stretch xmlns:a="http://schemas.openxmlformats.org/drawingml/2006/main"/>
        </p:blipFill>
        <p:spPr>
          <a:xfrm xmlns:a="http://schemas.openxmlformats.org/drawingml/2006/main">
            <a:off x="685800" y="531276"/>
            <a:ext cx="2266950" cy="842448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4C2E625-AF27-45D2-82BB-C9E98680D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90650"/>
            <a:ext cx="342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4F9F2E"/>
                </a:solidFill>
              </a:defRPr>
            </a:pPr>
            <a:r>
              <a:rPr sz="1275" b="1">
                <a:solidFill>
                  <a:srgbClr val="4F9F2E"/>
                </a:solidFill>
              </a:rPr>
              <a:t>해결하려는 문제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37C0BB5-6DED-4B73-9DB5-F7E943B00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14500"/>
            <a:ext cx="85725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11100E"/>
                </a:solidFill>
              </a:defRPr>
            </a:pPr>
            <a:r>
              <a:rPr sz="3225" b="1">
                <a:solidFill>
                  <a:srgbClr val="11100E"/>
                </a:solidFill>
              </a:rPr>
              <a:t>학생은 단어를 보지만, 뜻의 구조를 못 잡습니다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FEC3001-67CB-4A18-AA12-4BFF83985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724150"/>
            <a:ext cx="7620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F5A50"/>
                </a:solidFill>
              </a:defRPr>
            </a:pPr>
            <a:r>
              <a:rPr sz="1725" b="0">
                <a:solidFill>
                  <a:srgbClr val="5F5A50"/>
                </a:solidFill>
              </a:rPr>
              <a:t>교과 개념어는 익숙해 보여도 설명하려는 순간 흩어집니다.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954798B-43F5-43BE-8160-60F2A0F3D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752850"/>
            <a:ext cx="161925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19050">
            <a:solidFill>
              <a:srgbClr val="11100E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F59B5B7-BFF5-4A62-B2C6-5705C5E4D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848100"/>
            <a:ext cx="123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1100E"/>
                </a:solidFill>
              </a:defRPr>
            </a:pPr>
            <a:r>
              <a:rPr sz="1650" b="1">
                <a:solidFill>
                  <a:srgbClr val="11100E"/>
                </a:solidFill>
              </a:rPr>
              <a:t>외움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6CAD78A-C4AA-46E3-AA06-0CBD71C6B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3838575"/>
            <a:ext cx="628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F5A50"/>
                </a:solidFill>
              </a:defRPr>
            </a:pPr>
            <a:r>
              <a:rPr sz="1800" b="0">
                <a:solidFill>
                  <a:srgbClr val="5F5A50"/>
                </a:solidFill>
              </a:rPr>
              <a:t>한자 뜻과 사전 뜻이 따로 논다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6E15A0F-E6CF-4BD8-8304-752BD66FF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419600"/>
            <a:ext cx="161925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E6EBEE"/>
          </a:solidFill>
          <a:ln xmlns:a="http://schemas.openxmlformats.org/drawingml/2006/main" w="19050">
            <a:solidFill>
              <a:srgbClr val="11100E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570C816-FB43-4543-B1B2-04B0F1991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514850"/>
            <a:ext cx="123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1100E"/>
                </a:solidFill>
              </a:defRPr>
            </a:pPr>
            <a:r>
              <a:rPr sz="1650" b="1">
                <a:solidFill>
                  <a:srgbClr val="11100E"/>
                </a:solidFill>
              </a:rPr>
              <a:t>그림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680B2B7-51EC-449A-86A0-9C3CF7E44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4505325"/>
            <a:ext cx="628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F5A50"/>
                </a:solidFill>
              </a:defRPr>
            </a:pPr>
            <a:r>
              <a:rPr sz="1800" b="0">
                <a:solidFill>
                  <a:srgbClr val="5F5A50"/>
                </a:solidFill>
              </a:rPr>
              <a:t>이미지는 예쁘지만 개념 의미가 안 남는다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005A65C-9C3B-4A3C-A266-58BDB966F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086350"/>
            <a:ext cx="161925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19050">
            <a:solidFill>
              <a:srgbClr val="11100E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21BA8C6-C5C5-44A1-9B89-1799DD2F4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181600"/>
            <a:ext cx="123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1100E"/>
                </a:solidFill>
              </a:defRPr>
            </a:pPr>
            <a:r>
              <a:rPr sz="1650" b="1">
                <a:solidFill>
                  <a:srgbClr val="11100E"/>
                </a:solidFill>
              </a:rPr>
              <a:t>설명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779C88D-957F-4E43-8D3F-27F4D05E9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5172075"/>
            <a:ext cx="628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F5A50"/>
                </a:solidFill>
              </a:defRPr>
            </a:pPr>
            <a:r>
              <a:rPr sz="1800" b="0">
                <a:solidFill>
                  <a:srgbClr val="5F5A50"/>
                </a:solidFill>
              </a:rPr>
              <a:t>알 것 같지만 자기 말로 닫지 못한다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DE4353E-B183-4419-902E-0395F82A5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3771900"/>
            <a:ext cx="188595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B9EF4D"/>
          </a:solidFill>
          <a:ln xmlns:a="http://schemas.openxmlformats.org/drawingml/2006/main" w="28575">
            <a:solidFill>
              <a:srgbClr val="11100E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E63AF98-97E6-4B96-A4D1-04425D77E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4000500"/>
            <a:ext cx="13906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11100E"/>
                </a:solidFill>
              </a:defRPr>
            </a:pPr>
            <a:r>
              <a:rPr sz="2400" b="1">
                <a:solidFill>
                  <a:srgbClr val="11100E"/>
                </a:solidFill>
              </a:rPr>
              <a:t>단어를</a:t>
            </a:r>
          </a:p>
          <a:p xmlns:a="http://schemas.openxmlformats.org/drawingml/2006/main">
            <a:pPr algn="ctr">
              <a:defRPr sz="2400" b="1">
                <a:solidFill>
                  <a:srgbClr val="11100E"/>
                </a:solidFill>
              </a:defRPr>
            </a:pPr>
            <a:r>
              <a:rPr sz="2400" b="1">
                <a:solidFill>
                  <a:srgbClr val="11100E"/>
                </a:solidFill>
              </a:rPr>
              <a:t>이해로</a:t>
            </a:r>
          </a:p>
          <a:p xmlns:a="http://schemas.openxmlformats.org/drawingml/2006/main">
            <a:pPr algn="ctr">
              <a:defRPr sz="2400" b="1">
                <a:solidFill>
                  <a:srgbClr val="11100E"/>
                </a:solidFill>
              </a:defRPr>
            </a:pPr>
            <a:r>
              <a:rPr sz="2400" b="1">
                <a:solidFill>
                  <a:srgbClr val="11100E"/>
                </a:solidFill>
              </a:rPr>
              <a:t>켜야 한다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F6268E8-C0A7-4159-8A6E-9F7562EAA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9125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0C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D110CA6-5322-43AD-9F89-54A2D9D10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850" y="624840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F5A50"/>
                </a:solidFill>
              </a:defRPr>
            </a:pPr>
            <a:r>
              <a:rPr sz="1050" b="1">
                <a:solidFill>
                  <a:srgbClr val="5F5A50"/>
                </a:solidFill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203234332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2F0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09c08805c494c5c"/>
          <a:stretch xmlns:a="http://schemas.openxmlformats.org/drawingml/2006/main"/>
        </p:blipFill>
        <p:spPr>
          <a:xfrm xmlns:a="http://schemas.openxmlformats.org/drawingml/2006/main">
            <a:off x="685800" y="531276"/>
            <a:ext cx="2266950" cy="842448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6AD0195-B484-400F-90C4-A6695D3F7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90650"/>
            <a:ext cx="342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4F9F2E"/>
                </a:solidFill>
              </a:defRPr>
            </a:pPr>
            <a:r>
              <a:rPr sz="1275" b="1">
                <a:solidFill>
                  <a:srgbClr val="4F9F2E"/>
                </a:solidFill>
              </a:rPr>
              <a:t>해결 방식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6D67FFF-869C-4DA9-9CCC-E5AA88743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14500"/>
            <a:ext cx="85725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11100E"/>
                </a:solidFill>
              </a:defRPr>
            </a:pPr>
            <a:r>
              <a:rPr sz="3225" b="1">
                <a:solidFill>
                  <a:srgbClr val="11100E"/>
                </a:solidFill>
              </a:rPr>
              <a:t>한 단어를 5단계로 통과시키며 이해를 만든다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2569BAA-6EBA-4C50-8F74-53F338533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724150"/>
            <a:ext cx="7620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F5A50"/>
                </a:solidFill>
              </a:defRPr>
            </a:pPr>
            <a:r>
              <a:rPr sz="1725" b="0">
                <a:solidFill>
                  <a:srgbClr val="5F5A50"/>
                </a:solidFill>
              </a:rPr>
              <a:t>아는 경험에서 출발해, 한자·그림·문항·비교·설명으로 닫습니다.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6CF0719-6DBF-4304-B34E-DB422974B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829050"/>
            <a:ext cx="179070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19050">
            <a:solidFill>
              <a:srgbClr val="11100E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A48D787-E7F4-4434-A4CE-CC49B368C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943350"/>
            <a:ext cx="323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1100E"/>
                </a:solidFill>
              </a:defRPr>
            </a:pPr>
            <a:r>
              <a:rPr sz="1800" b="1">
                <a:solidFill>
                  <a:srgbClr val="11100E"/>
                </a:solidFill>
              </a:rPr>
              <a:t>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5971DE6-A809-4C23-80E8-0047BB139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343400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1100E"/>
                </a:solidFill>
              </a:defRPr>
            </a:pPr>
            <a:r>
              <a:rPr sz="1875" b="1">
                <a:solidFill>
                  <a:srgbClr val="11100E"/>
                </a:solidFill>
              </a:rPr>
              <a:t>느낌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121164E-8F66-46E8-BA1A-93F5C662E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724400"/>
            <a:ext cx="1485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5F5A50"/>
                </a:solidFill>
              </a:defRPr>
            </a:pPr>
            <a:r>
              <a:rPr sz="1200" b="0">
                <a:solidFill>
                  <a:srgbClr val="5F5A50"/>
                </a:solidFill>
              </a:rPr>
              <a:t>처음 보는 느낌과 자신감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0D0A6DD-EFFF-41BC-A139-CD66DF0DD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4343400"/>
            <a:ext cx="304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75" b="1">
                <a:solidFill>
                  <a:srgbClr val="5F5A50"/>
                </a:solidFill>
              </a:defRPr>
            </a:pPr>
            <a:r>
              <a:rPr sz="2475" b="1">
                <a:solidFill>
                  <a:srgbClr val="5F5A50"/>
                </a:solidFill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201C2DD-7B4D-4922-9408-FB8FD089F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3829050"/>
            <a:ext cx="179070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B9EF4D"/>
          </a:solidFill>
          <a:ln xmlns:a="http://schemas.openxmlformats.org/drawingml/2006/main" w="19050">
            <a:solidFill>
              <a:srgbClr val="11100E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06E5B47-4629-4D15-942B-CC604E3C0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943350"/>
            <a:ext cx="323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1100E"/>
                </a:solidFill>
              </a:defRPr>
            </a:pPr>
            <a:r>
              <a:rPr sz="1800" b="1">
                <a:solidFill>
                  <a:srgbClr val="11100E"/>
                </a:solidFill>
              </a:rPr>
              <a:t>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B0694D3-B1E9-40BA-8F9F-0C9892713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4343400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1100E"/>
                </a:solidFill>
              </a:defRPr>
            </a:pPr>
            <a:r>
              <a:rPr sz="1875" b="1">
                <a:solidFill>
                  <a:srgbClr val="11100E"/>
                </a:solidFill>
              </a:rPr>
              <a:t>개념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2097DE0-134C-45AF-A99C-1A00FF35F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4724400"/>
            <a:ext cx="1485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5F5A50"/>
                </a:solidFill>
              </a:defRPr>
            </a:pPr>
            <a:r>
              <a:rPr sz="1200" b="0">
                <a:solidFill>
                  <a:srgbClr val="5F5A50"/>
                </a:solidFill>
              </a:rPr>
              <a:t>한자 뜻·정의·오개념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95DCCDB-087D-4091-A529-43C22E897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4343400"/>
            <a:ext cx="304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75" b="1">
                <a:solidFill>
                  <a:srgbClr val="5F5A50"/>
                </a:solidFill>
              </a:defRPr>
            </a:pPr>
            <a:r>
              <a:rPr sz="2475" b="1">
                <a:solidFill>
                  <a:srgbClr val="5F5A50"/>
                </a:solidFill>
              </a:rPr>
              <a:t>→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22A2731-B68E-44A2-A032-3DF70F1F2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3829050"/>
            <a:ext cx="179070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19050">
            <a:solidFill>
              <a:srgbClr val="11100E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A166330-9CD1-4E09-8856-8787DF3CC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3943350"/>
            <a:ext cx="323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1100E"/>
                </a:solidFill>
              </a:defRPr>
            </a:pPr>
            <a:r>
              <a:rPr sz="1800" b="1">
                <a:solidFill>
                  <a:srgbClr val="11100E"/>
                </a:solidFill>
              </a:rPr>
              <a:t>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F032B35-47A4-475B-9769-B3DEBCA62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4343400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1100E"/>
                </a:solidFill>
              </a:defRPr>
            </a:pPr>
            <a:r>
              <a:rPr sz="1875" b="1">
                <a:solidFill>
                  <a:srgbClr val="11100E"/>
                </a:solidFill>
              </a:rPr>
              <a:t>따라해보기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1F23598-D4C5-427D-AFC5-147B0412F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4724400"/>
            <a:ext cx="1485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5F5A50"/>
                </a:solidFill>
              </a:defRPr>
            </a:pPr>
            <a:r>
              <a:rPr sz="1200" b="0">
                <a:solidFill>
                  <a:srgbClr val="5F5A50"/>
                </a:solidFill>
              </a:rPr>
              <a:t>객관식으로 구분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12F7FDE-13A3-4D98-89F4-9B334E517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4343400"/>
            <a:ext cx="304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75" b="1">
                <a:solidFill>
                  <a:srgbClr val="5F5A50"/>
                </a:solidFill>
              </a:defRPr>
            </a:pPr>
            <a:r>
              <a:rPr sz="2475" b="1">
                <a:solidFill>
                  <a:srgbClr val="5F5A50"/>
                </a:solidFill>
              </a:rPr>
              <a:t>→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55CB8D7-6A6E-46AD-9DDB-B7958DB58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3829050"/>
            <a:ext cx="179070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19050">
            <a:solidFill>
              <a:srgbClr val="11100E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2DBB833-CC79-45FB-BE5C-5CC9B2D41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3943350"/>
            <a:ext cx="323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1100E"/>
                </a:solidFill>
              </a:defRPr>
            </a:pPr>
            <a:r>
              <a:rPr sz="1800" b="1">
                <a:solidFill>
                  <a:srgbClr val="11100E"/>
                </a:solidFill>
              </a:rPr>
              <a:t>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0227C7C-88FC-435F-AE86-3B0AEC7F6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4343400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1100E"/>
                </a:solidFill>
              </a:defRPr>
            </a:pPr>
            <a:r>
              <a:rPr sz="1875" b="1">
                <a:solidFill>
                  <a:srgbClr val="11100E"/>
                </a:solidFill>
              </a:rPr>
              <a:t>크게보기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5CF9AF7-3FC6-4892-8AB0-81CB83FA5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4724400"/>
            <a:ext cx="1485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5F5A50"/>
                </a:solidFill>
              </a:defRPr>
            </a:pPr>
            <a:r>
              <a:rPr sz="1200" b="0">
                <a:solidFill>
                  <a:srgbClr val="5F5A50"/>
                </a:solidFill>
              </a:rPr>
              <a:t>짝개념·세트 비교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44A4223-8AC8-4FB7-A7E1-A0008C94C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4343400"/>
            <a:ext cx="304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75" b="1">
                <a:solidFill>
                  <a:srgbClr val="5F5A50"/>
                </a:solidFill>
              </a:defRPr>
            </a:pPr>
            <a:r>
              <a:rPr sz="2475" b="1">
                <a:solidFill>
                  <a:srgbClr val="5F5A50"/>
                </a:solidFill>
              </a:rPr>
              <a:t>→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63E463C-7B60-4D96-B3B9-D65A9241E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3829050"/>
            <a:ext cx="179070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F6EAD2"/>
          </a:solidFill>
          <a:ln xmlns:a="http://schemas.openxmlformats.org/drawingml/2006/main" w="19050">
            <a:solidFill>
              <a:srgbClr val="11100E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8D68C5D-FCBA-4DE7-A332-82FD17CD1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3943350"/>
            <a:ext cx="323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1100E"/>
                </a:solidFill>
              </a:defRPr>
            </a:pPr>
            <a:r>
              <a:rPr sz="1800" b="1">
                <a:solidFill>
                  <a:srgbClr val="11100E"/>
                </a:solidFill>
              </a:rPr>
              <a:t>5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48D4D7B-AAAF-4499-A212-0DA1A9BDA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4343400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1100E"/>
                </a:solidFill>
              </a:defRPr>
            </a:pPr>
            <a:r>
              <a:rPr sz="1875" b="1">
                <a:solidFill>
                  <a:srgbClr val="11100E"/>
                </a:solidFill>
              </a:rPr>
              <a:t>설명하기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3EC2FC2-42A2-46BD-947B-261C593B0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4724400"/>
            <a:ext cx="1485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5F5A50"/>
                </a:solidFill>
              </a:defRPr>
            </a:pPr>
            <a:r>
              <a:rPr sz="1200" b="0">
                <a:solidFill>
                  <a:srgbClr val="5F5A50"/>
                </a:solidFill>
              </a:rPr>
              <a:t>내 말로 닫기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AB5F1F0-999A-45CB-BCFE-831905D55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9125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0C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9AC8F4B-5037-421C-B305-196802BAF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850" y="624840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F5A50"/>
                </a:solidFill>
              </a:defRPr>
            </a:pPr>
            <a:r>
              <a:rPr sz="1050" b="1">
                <a:solidFill>
                  <a:srgbClr val="5F5A50"/>
                </a:solidFill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56732484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2F0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ebfd2a119e444a1"/>
          <a:stretch xmlns:a="http://schemas.openxmlformats.org/drawingml/2006/main"/>
        </p:blipFill>
        <p:spPr>
          <a:xfrm xmlns:a="http://schemas.openxmlformats.org/drawingml/2006/main">
            <a:off x="685800" y="531276"/>
            <a:ext cx="2266950" cy="842448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68DE1B7-30C0-442A-956D-09BE5BDA6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90650"/>
            <a:ext cx="342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4F9F2E"/>
                </a:solidFill>
              </a:defRPr>
            </a:pPr>
            <a:r>
              <a:rPr sz="1275" b="1">
                <a:solidFill>
                  <a:srgbClr val="4F9F2E"/>
                </a:solidFill>
              </a:rPr>
              <a:t>데모 범위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CFCC24E-103C-4B29-B2B8-2774E5B16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14500"/>
            <a:ext cx="85725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11100E"/>
                </a:solidFill>
              </a:defRPr>
            </a:pPr>
            <a:r>
              <a:rPr sz="3225" b="1">
                <a:solidFill>
                  <a:srgbClr val="11100E"/>
                </a:solidFill>
              </a:rPr>
              <a:t>내일은 5개 개념으로 핵심 경험을 보여줍니다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1D25F2D-8790-4B73-B0AE-DBF4BEA68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724150"/>
            <a:ext cx="7620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F5A50"/>
                </a:solidFill>
              </a:defRPr>
            </a:pPr>
            <a:r>
              <a:rPr sz="1725" b="0">
                <a:solidFill>
                  <a:srgbClr val="5F5A50"/>
                </a:solidFill>
              </a:rPr>
              <a:t>과학 개념어의 서로 다른 학습 경로가 보이도록 골랐습니다.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F510449-41B7-4F40-BFCB-A5165EC48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562350"/>
            <a:ext cx="180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1100E"/>
                </a:solidFill>
              </a:defRPr>
            </a:pPr>
            <a:r>
              <a:rPr sz="1950" b="1">
                <a:solidFill>
                  <a:srgbClr val="11100E"/>
                </a:solidFill>
              </a:rPr>
              <a:t>비열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1E4E1EB-D815-4726-A5CD-9AB482811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3590925"/>
            <a:ext cx="7620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F5A50"/>
                </a:solidFill>
              </a:defRPr>
            </a:pPr>
            <a:r>
              <a:rPr sz="1575" b="0">
                <a:solidFill>
                  <a:srgbClr val="5F5A50"/>
                </a:solidFill>
              </a:rPr>
              <a:t>생활 예시로 열을 받아들이기 어려움을 이해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2C3CB9B-685A-479E-8380-323930921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962400"/>
            <a:ext cx="9429750" cy="133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0C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88430F9-90D3-4319-8F96-39B31E38F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057650"/>
            <a:ext cx="180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1100E"/>
                </a:solidFill>
              </a:defRPr>
            </a:pPr>
            <a:r>
              <a:rPr sz="1950" b="1">
                <a:solidFill>
                  <a:srgbClr val="11100E"/>
                </a:solidFill>
              </a:rPr>
              <a:t>응고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07E3F39-164D-4895-9D30-6581816CB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4086225"/>
            <a:ext cx="7620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F5A50"/>
                </a:solidFill>
              </a:defRPr>
            </a:pPr>
            <a:r>
              <a:rPr sz="1575" b="0">
                <a:solidFill>
                  <a:srgbClr val="5F5A50"/>
                </a:solidFill>
              </a:rPr>
              <a:t>상태 변화와 입자 움직임을 연결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C227071-D48E-4FDB-A7FC-277166892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457700"/>
            <a:ext cx="9429750" cy="133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0C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D662930-3B30-46F0-95F0-E73037B76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552950"/>
            <a:ext cx="180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1100E"/>
                </a:solidFill>
              </a:defRPr>
            </a:pPr>
            <a:r>
              <a:rPr sz="1950" b="1">
                <a:solidFill>
                  <a:srgbClr val="11100E"/>
                </a:solidFill>
              </a:rPr>
              <a:t>열의 이동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C8B11B4-CE4B-4108-A7B5-762584C3D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4581525"/>
            <a:ext cx="7620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F5A50"/>
                </a:solidFill>
              </a:defRPr>
            </a:pPr>
            <a:r>
              <a:rPr sz="1575" b="0">
                <a:solidFill>
                  <a:srgbClr val="5F5A50"/>
                </a:solidFill>
              </a:rPr>
              <a:t>전도·대류·복사를 세트 비교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F3C8EB8-8096-4FE8-A14B-B45B9FED2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953000"/>
            <a:ext cx="9429750" cy="133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0C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29F8EC0-B7D8-4E73-BDFD-99BC971D2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048250"/>
            <a:ext cx="180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1100E"/>
                </a:solidFill>
              </a:defRPr>
            </a:pPr>
            <a:r>
              <a:rPr sz="1950" b="1">
                <a:solidFill>
                  <a:srgbClr val="11100E"/>
                </a:solidFill>
              </a:rPr>
              <a:t>질량↔무게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AE83694-855A-4ED0-845A-DAEB17369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5076825"/>
            <a:ext cx="7620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F5A50"/>
                </a:solidFill>
              </a:defRPr>
            </a:pPr>
            <a:r>
              <a:rPr sz="1575" b="0">
                <a:solidFill>
                  <a:srgbClr val="5F5A50"/>
                </a:solidFill>
              </a:rPr>
              <a:t>달 예시로 짝개념 구분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B790FA6-D1AA-4149-A118-CBCA3B34A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448300"/>
            <a:ext cx="9429750" cy="133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0C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F7274E8-E958-45F2-9363-89B2C6A73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543550"/>
            <a:ext cx="180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1100E"/>
                </a:solidFill>
              </a:defRPr>
            </a:pPr>
            <a:r>
              <a:rPr sz="1950" b="1">
                <a:solidFill>
                  <a:srgbClr val="11100E"/>
                </a:solidFill>
              </a:rPr>
              <a:t>태양계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D930CF5-90F3-4148-B34E-89A65C24D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5572125"/>
            <a:ext cx="7620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F5A50"/>
                </a:solidFill>
              </a:defRPr>
            </a:pPr>
            <a:r>
              <a:rPr sz="1575" b="0">
                <a:solidFill>
                  <a:srgbClr val="5F5A50"/>
                </a:solidFill>
              </a:rPr>
              <a:t>별·행성·위성 라벨 도식 + 따라그리기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42FF21D-D3F7-47AB-B398-12CA0D84D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943600"/>
            <a:ext cx="9429750" cy="133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0C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E85DB9F-3515-47D8-86C3-5D94479D1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9125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0C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83C5942-41A8-4200-BC01-AA45F1732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850" y="624840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F5A50"/>
                </a:solidFill>
              </a:defRPr>
            </a:pPr>
            <a:r>
              <a:rPr sz="1050" b="1">
                <a:solidFill>
                  <a:srgbClr val="5F5A50"/>
                </a:solidFill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42299635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2F0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8fb24bea7c941f5"/>
          <a:stretch xmlns:a="http://schemas.openxmlformats.org/drawingml/2006/main"/>
        </p:blipFill>
        <p:spPr>
          <a:xfrm xmlns:a="http://schemas.openxmlformats.org/drawingml/2006/main">
            <a:off x="685800" y="531276"/>
            <a:ext cx="2266950" cy="842448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F2EA1C4-D633-4DF2-A06D-F447D1951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90650"/>
            <a:ext cx="342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4F9F2E"/>
                </a:solidFill>
              </a:defRPr>
            </a:pPr>
            <a:r>
              <a:rPr sz="1275" b="1">
                <a:solidFill>
                  <a:srgbClr val="4F9F2E"/>
                </a:solidFill>
              </a:rPr>
              <a:t>시각화 원칙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77E0083-AAE9-44A2-B0AC-16D211EA0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14500"/>
            <a:ext cx="85725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11100E"/>
                </a:solidFill>
              </a:defRPr>
            </a:pPr>
            <a:r>
              <a:rPr sz="3225" b="1">
                <a:solidFill>
                  <a:srgbClr val="11100E"/>
                </a:solidFill>
              </a:rPr>
              <a:t>예시와 그림이 같아야 아이의 머릿속이 덜 흔들립니다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3D5C95C-4050-4C15-8FC4-B227E1BFE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724150"/>
            <a:ext cx="7620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F5A50"/>
                </a:solidFill>
              </a:defRPr>
            </a:pPr>
            <a:r>
              <a:rPr sz="1725" b="0">
                <a:solidFill>
                  <a:srgbClr val="5F5A50"/>
                </a:solidFill>
              </a:rPr>
              <a:t>변이를 강낭콩으로 설명하면, 그림도 강낭콩이어야 합니다.</a:t>
            </a:r>
          </a:p>
        </p:txBody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d7e561a1df04284"/>
          <a:stretch xmlns:a="http://schemas.openxmlformats.org/drawingml/2006/main"/>
        </p:blipFill>
        <p:spPr>
          <a:xfrm xmlns:a="http://schemas.openxmlformats.org/drawingml/2006/main">
            <a:off x="709930" y="3543300"/>
            <a:ext cx="5323840" cy="249555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5DD6E12-FA0B-4212-929A-0AB8FD459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790950"/>
            <a:ext cx="3981450" cy="72390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19050">
            <a:solidFill>
              <a:srgbClr val="11100E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5C9708C-46D9-45D6-B2A7-13BA95BA9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981450"/>
            <a:ext cx="1524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1100E"/>
                </a:solidFill>
              </a:defRPr>
            </a:pPr>
            <a:r>
              <a:rPr sz="1950" b="1">
                <a:solidFill>
                  <a:srgbClr val="11100E"/>
                </a:solidFill>
              </a:rPr>
              <a:t>같은 종 안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375116A-8BBE-4A5A-B782-45CE1974C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4010025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F5A50"/>
                </a:solidFill>
              </a:defRPr>
            </a:pPr>
            <a:r>
              <a:rPr sz="1725" b="0">
                <a:solidFill>
                  <a:srgbClr val="5F5A50"/>
                </a:solidFill>
              </a:rPr>
              <a:t>강낭콩 씨앗들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6631069-DAAA-479B-83EF-9550F0564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4762500"/>
            <a:ext cx="3981450" cy="72390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B9EF4D"/>
          </a:solidFill>
          <a:ln xmlns:a="http://schemas.openxmlformats.org/drawingml/2006/main" w="19050">
            <a:solidFill>
              <a:srgbClr val="11100E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6FD7189-56FB-469C-AC27-642ADD129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4953000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1100E"/>
                </a:solidFill>
              </a:defRPr>
            </a:pPr>
            <a:r>
              <a:rPr sz="1950" b="1">
                <a:solidFill>
                  <a:srgbClr val="11100E"/>
                </a:solidFill>
              </a:rPr>
              <a:t>조금씩 다름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9A1FF04-A7DB-4E4C-B140-61AA9AB72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4981575"/>
            <a:ext cx="161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F5A50"/>
                </a:solidFill>
              </a:defRPr>
            </a:pPr>
            <a:r>
              <a:rPr sz="1725" b="0">
                <a:solidFill>
                  <a:srgbClr val="5F5A50"/>
                </a:solidFill>
              </a:rPr>
              <a:t>크기·무늬·모양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4B99AAC-DE5D-487A-B591-C6D4E2A85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9125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0C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352E94B-476A-4DAD-84D5-74AFC2D2B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850" y="624840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F5A50"/>
                </a:solidFill>
              </a:defRPr>
            </a:pPr>
            <a:r>
              <a:rPr sz="1050" b="1">
                <a:solidFill>
                  <a:srgbClr val="5F5A50"/>
                </a:solidFill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32718549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2F0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427c3e2e21b40c9"/>
          <a:stretch xmlns:a="http://schemas.openxmlformats.org/drawingml/2006/main"/>
        </p:blipFill>
        <p:spPr>
          <a:xfrm xmlns:a="http://schemas.openxmlformats.org/drawingml/2006/main">
            <a:off x="685800" y="531276"/>
            <a:ext cx="2266950" cy="842448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EA5A13B-FBC9-4A39-8185-A3D9BD73D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90650"/>
            <a:ext cx="342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4F9F2E"/>
                </a:solidFill>
              </a:defRPr>
            </a:pPr>
            <a:r>
              <a:rPr sz="1275" b="1">
                <a:solidFill>
                  <a:srgbClr val="4F9F2E"/>
                </a:solidFill>
              </a:rPr>
              <a:t>앱 경험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A886B39-ED79-4A1F-9748-B1A7C19C1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14500"/>
            <a:ext cx="85725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11100E"/>
                </a:solidFill>
              </a:defRPr>
            </a:pPr>
            <a:r>
              <a:rPr sz="3225" b="1">
                <a:solidFill>
                  <a:srgbClr val="11100E"/>
                </a:solidFill>
              </a:rPr>
              <a:t>학생은 보는 데서 끝나지 않고 손으로 다시 그립니다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0E3DAD8-E77E-412B-8242-22985EE39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724150"/>
            <a:ext cx="7620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F5A50"/>
                </a:solidFill>
              </a:defRPr>
            </a:pPr>
            <a:r>
              <a:rPr sz="1725" b="0">
                <a:solidFill>
                  <a:srgbClr val="5F5A50"/>
                </a:solidFill>
              </a:rPr>
              <a:t>한자와 라벨 도식을 본 뒤, 바로 따라그리며 개념 구조를 재구성합니다.</a:t>
            </a:r>
          </a:p>
        </p:txBody>
      </p:sp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8325c5843bc439a"/>
          <a:srcRect xmlns:a="http://schemas.openxmlformats.org/drawingml/2006/main" l="0" t="44835" r="0" b="4483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81050" y="3429000"/>
            <a:ext cx="2952750" cy="2952750"/>
          </a:xfrm>
          <a:prstGeom xmlns:a="http://schemas.openxmlformats.org/drawingml/2006/main" prst="roundRect">
            <a:avLst>
              <a:gd name="adj" fmla="val 3871"/>
            </a:avLst>
          </a:prstGeom>
        </p:spPr>
      </p:pic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fb08df158be488e"/>
          <a:stretch xmlns:a="http://schemas.openxmlformats.org/drawingml/2006/main"/>
        </p:blipFill>
        <p:spPr>
          <a:xfrm xmlns:a="http://schemas.openxmlformats.org/drawingml/2006/main">
            <a:off x="4343400" y="3627239"/>
            <a:ext cx="4362450" cy="1908572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C4C7242-281D-41BC-B9D7-CC682E0E8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3505200"/>
            <a:ext cx="1809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19050">
            <a:solidFill>
              <a:srgbClr val="11100E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22578C2-CF28-4792-9286-49B6B7C4A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3600450"/>
            <a:ext cx="1504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1100E"/>
                </a:solidFill>
              </a:defRPr>
            </a:pPr>
            <a:r>
              <a:rPr sz="1575" b="1">
                <a:solidFill>
                  <a:srgbClr val="11100E"/>
                </a:solidFill>
              </a:rPr>
              <a:t>한자 뜻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1545DA0-131F-4633-AFA4-68CB140C8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4057650"/>
            <a:ext cx="1809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19050">
            <a:solidFill>
              <a:srgbClr val="11100E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91A605A-C53B-42FD-AF33-B6C6E2062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4152900"/>
            <a:ext cx="1504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1100E"/>
                </a:solidFill>
              </a:defRPr>
            </a:pPr>
            <a:r>
              <a:rPr sz="1575" b="1">
                <a:solidFill>
                  <a:srgbClr val="11100E"/>
                </a:solidFill>
              </a:rPr>
              <a:t>라벨 도식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87D285B-73DC-4CC2-9401-8A9DE4A5C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4610100"/>
            <a:ext cx="1809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B9EF4D"/>
          </a:solidFill>
          <a:ln xmlns:a="http://schemas.openxmlformats.org/drawingml/2006/main" w="19050">
            <a:solidFill>
              <a:srgbClr val="11100E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BDE3BC4-DF03-4F30-B264-61CDD9BF7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4705350"/>
            <a:ext cx="1504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1100E"/>
                </a:solidFill>
              </a:defRPr>
            </a:pPr>
            <a:r>
              <a:rPr sz="1575" b="1">
                <a:solidFill>
                  <a:srgbClr val="11100E"/>
                </a:solidFill>
              </a:rPr>
              <a:t>따라그리기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C1EFFE0-9FC5-4AF0-966B-5ABFF0004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5162550"/>
            <a:ext cx="1809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19050">
            <a:solidFill>
              <a:srgbClr val="11100E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C57A0F3-D967-4DF3-8F8F-2891C7F19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5257800"/>
            <a:ext cx="1504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1100E"/>
                </a:solidFill>
              </a:defRPr>
            </a:pPr>
            <a:r>
              <a:rPr sz="1575" b="1">
                <a:solidFill>
                  <a:srgbClr val="11100E"/>
                </a:solidFill>
              </a:rPr>
              <a:t>설명하기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7008DD1-DFE7-420E-9D2F-08910DB1D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9125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0C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A552E18-ACE8-4FCA-9BBD-9DB6BAB72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850" y="624840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F5A50"/>
                </a:solidFill>
              </a:defRPr>
            </a:pPr>
            <a:r>
              <a:rPr sz="1050" b="1">
                <a:solidFill>
                  <a:srgbClr val="5F5A50"/>
                </a:solidFill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204651978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2F0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90e16f52d154c26"/>
          <a:stretch xmlns:a="http://schemas.openxmlformats.org/drawingml/2006/main"/>
        </p:blipFill>
        <p:spPr>
          <a:xfrm xmlns:a="http://schemas.openxmlformats.org/drawingml/2006/main">
            <a:off x="685800" y="531276"/>
            <a:ext cx="2266950" cy="842448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21B2BC2-A1E1-436C-81B0-065B834F2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90650"/>
            <a:ext cx="342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4F9F2E"/>
                </a:solidFill>
              </a:defRPr>
            </a:pPr>
            <a:r>
              <a:rPr sz="1275" b="1">
                <a:solidFill>
                  <a:srgbClr val="4F9F2E"/>
                </a:solidFill>
              </a:rPr>
              <a:t>제출 정보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38427A3-9F7E-41A1-9135-93CD5EF79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14500"/>
            <a:ext cx="85725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11100E"/>
                </a:solidFill>
              </a:defRPr>
            </a:pPr>
            <a:r>
              <a:rPr sz="3225" b="1">
                <a:solidFill>
                  <a:srgbClr val="11100E"/>
                </a:solidFill>
              </a:rPr>
              <a:t>데모데이에서는 최신 배포 URL로 바로 시연합니다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D3038B8-2E4B-4512-A4A3-83D840812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724150"/>
            <a:ext cx="7620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F5A50"/>
                </a:solidFill>
              </a:defRPr>
            </a:pPr>
            <a:r>
              <a:rPr sz="1725" b="0">
                <a:solidFill>
                  <a:srgbClr val="5F5A50"/>
                </a:solidFill>
              </a:rPr>
              <a:t>지금은 로컬에서 동작 확인을 마쳤고, 공개 URL은 최신 버전으로 재배포합니다.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E48B322-802C-455B-8116-6D0D53704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600450"/>
            <a:ext cx="5010150" cy="9906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19050">
            <a:solidFill>
              <a:srgbClr val="11100E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C0B81CD-EE86-4FD4-B639-F2BAD8A9D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848100"/>
            <a:ext cx="857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1100E"/>
                </a:solidFill>
              </a:defRPr>
            </a:pPr>
            <a:r>
              <a:rPr sz="2100" b="1">
                <a:solidFill>
                  <a:srgbClr val="11100E"/>
                </a:solidFill>
              </a:rPr>
              <a:t>URL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0AB547F-B0E5-4D13-899F-F84F95F20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3905250"/>
            <a:ext cx="409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F5A50"/>
                </a:solidFill>
              </a:defRPr>
            </a:pPr>
            <a:r>
              <a:rPr sz="1575" b="0">
                <a:solidFill>
                  <a:srgbClr val="5F5A50"/>
                </a:solidFill>
              </a:rPr>
              <a:t>https://gloon-concept.vercel.app/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EFF22E0-BE79-47C9-AF15-A600EC1EB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895850"/>
            <a:ext cx="501015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B9EF4D"/>
          </a:solidFill>
          <a:ln xmlns:a="http://schemas.openxmlformats.org/drawingml/2006/main" w="19050">
            <a:solidFill>
              <a:srgbClr val="11100E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0FB81FC-12F9-4704-BC5A-4DB8BF758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5124450"/>
            <a:ext cx="1333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1100E"/>
                </a:solidFill>
              </a:defRPr>
            </a:pPr>
            <a:r>
              <a:rPr sz="1950" b="1">
                <a:solidFill>
                  <a:srgbClr val="11100E"/>
                </a:solidFill>
              </a:rPr>
              <a:t>내일 목표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8A32DC1-AB97-4BC2-B34B-36C758504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518160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00E"/>
                </a:solidFill>
              </a:defRPr>
            </a:pPr>
            <a:r>
              <a:rPr sz="1500" b="0">
                <a:solidFill>
                  <a:srgbClr val="11100E"/>
                </a:solidFill>
              </a:rPr>
              <a:t>5개 데모를 무오류로 끝까지 보여주기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430AD33-9D68-433B-99F2-011AEF7F7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600450"/>
            <a:ext cx="228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1100E"/>
                </a:solidFill>
              </a:defRPr>
            </a:pPr>
            <a:r>
              <a:rPr sz="2325" b="1">
                <a:solidFill>
                  <a:srgbClr val="11100E"/>
                </a:solidFill>
              </a:rPr>
              <a:t>다음 단계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15BA646-6D39-460A-97F3-A3801AEB6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4095750"/>
            <a:ext cx="409575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F5A50"/>
                </a:solidFill>
              </a:defRPr>
            </a:pPr>
            <a:r>
              <a:rPr sz="1875" b="0">
                <a:solidFill>
                  <a:srgbClr val="5F5A50"/>
                </a:solidFill>
              </a:rPr>
              <a:t>235개 개념 콘텐츠 확장</a:t>
            </a:r>
          </a:p>
          <a:p xmlns:a="http://schemas.openxmlformats.org/drawingml/2006/main">
            <a:pPr algn="l">
              <a:defRPr sz="1875" b="0">
                <a:solidFill>
                  <a:srgbClr val="5F5A50"/>
                </a:solidFill>
              </a:defRPr>
            </a:pPr>
            <a:r>
              <a:rPr sz="1875" b="0">
                <a:solidFill>
                  <a:srgbClr val="5F5A50"/>
                </a:solidFill>
              </a:rPr>
              <a:t>교실 피드백으로 이미지 원칙 보정</a:t>
            </a:r>
          </a:p>
          <a:p xmlns:a="http://schemas.openxmlformats.org/drawingml/2006/main">
            <a:pPr algn="l">
              <a:defRPr sz="1875" b="0">
                <a:solidFill>
                  <a:srgbClr val="5F5A50"/>
                </a:solidFill>
              </a:defRPr>
            </a:pPr>
            <a:r>
              <a:rPr sz="1875" b="0">
                <a:solidFill>
                  <a:srgbClr val="5F5A50"/>
                </a:solidFill>
              </a:rPr>
              <a:t>학습 기록 기반 복습 추천 강화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750AA58-D6A5-4B5D-9A77-37324A813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9125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0C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2FF5321-FE79-4952-B460-13C7BDC3E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850" y="624840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F5A50"/>
                </a:solidFill>
              </a:defRPr>
            </a:pPr>
            <a:r>
              <a:rPr sz="1050" b="1">
                <a:solidFill>
                  <a:srgbClr val="5F5A50"/>
                </a:solidFill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203703120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2026-07-27T11:50:09.1560000Z</dcterms:created>
  <dcterms:modified xsi:type="dcterms:W3CDTF">2026-07-27T11:50:09.1560000Z</dcterms:modified>
</coreProperties>
</file>